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开场说明：独立鲜境品牌。讲解对象为实际完成的实验平台，资金和配送使用沙箱。姓名学号由提交人填写。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说明6种账号和游客权限，个人购物资源始终要求本人。菜单隐藏不替代API鉴权。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打开实际商城演示搜索三文鱼、详情、购物车。示意图片和商品数据为实验种子，前端通过真实JSON API查询。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在录屏中展示实际下单与付款，切换仓库和会员完成履约；第二单演示整单退款。已配送的生鲜不能自动回可售库存。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解释实际403证据。修改角色会影响旧JWT。角色注册字段拒绝注入，SQL参数绑定，接口限流。公网HTTPS需正式部署配置。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采用模块化单体来降低当前规模复杂度。SQLite本地可立即启动，完整Docker采用PG；配置中心为环境变量，不部署无需使用的注册发现服务。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完整DDL与初始化SQL随源码交付。Outbox和processed_events为逻辑事件对应，不设置物理FK；订单地址为JSON快照。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重点讲解库存争抢、重复下单和付款取消竞争测试。不能用Redis缓存值做最终库存决定。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8项实物组件验证已执行。confirm确认后标记sent；消费者事务提交后ack；重复事件不会重复产生通知。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用例包含并发、异常、越权、回滚、超时、退款、结算和权限撤销。200次短时测量不作为生产SLA。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展示真实Grafana及健康接口。CI配置已交付未在GitHub执行，恢复脚本未破坏性演练。课堂Compose仅本机HTTP，正式公网需TLS与真实渠道。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Codex / GPT-6系列。用户原始Prompt是本次真实输入；其他阶段任务为代理归纳，未伪造用户对话、团队评审和签名。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结束说明当前已经启动。交付人补个人信息和手写电子签名；真实资金、配送、HA、长时容量及恢复演练是后续工作。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7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F83"/>
                </a:solidFill>
                <a:latin typeface="Microsoft YaHei"/>
              </a:defRPr>
            </a:pPr>
            <a:r>
              <a:t>FRESHMARKET  /  ENTERPRISE FRESH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4950"/>
                </a:solidFill>
                <a:latin typeface="Microsoft YaHei"/>
              </a:defRPr>
            </a:pPr>
            <a:r>
              <a:t>鲜境 FreshMarket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68868D"/>
                </a:solidFill>
                <a:latin typeface="Microsoft YaHei"/>
              </a:defRPr>
            </a:pPr>
            <a:r>
              <a:t>仿盒马生鲜购物体验 · 企业级商城工程实践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8868D"/>
                </a:solidFill>
                <a:latin typeface="Microsoft YaHei"/>
              </a:defRPr>
            </a:pPr>
            <a:r>
              <a:t>鲜境 · 实验四 · 2026-10-06  |  实际系统与证据，支付/配送为实验沙箱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87F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4950"/>
                </a:solidFill>
                <a:latin typeface="Microsoft YaHei"/>
              </a:defRPr>
            </a:pPr>
            <a:r>
              <a:t>把新鲜带回家，</a:t>
            </a:r>
          </a:p>
          <a:p>
            <a:pPr>
              <a:spcAft>
                <a:spcPts val="1200"/>
              </a:spcAft>
              <a:defRPr sz="3300" b="1">
                <a:solidFill>
                  <a:srgbClr val="174950"/>
                </a:solidFill>
                <a:latin typeface="Microsoft YaHei"/>
              </a:defRPr>
            </a:pPr>
            <a:r>
              <a:t>把业务闭环落到系统。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68868D"/>
                </a:solidFill>
                <a:latin typeface="Microsoft YaHei"/>
              </a:defRPr>
            </a:pPr>
            <a:r>
              <a:t>6类食材 · 24款商品 · 6种账号角色</a:t>
            </a:r>
          </a:p>
          <a:p>
            <a:pPr>
              <a:spcAft>
                <a:spcPts val="1200"/>
              </a:spcAft>
              <a:defRPr sz="1800" b="0">
                <a:solidFill>
                  <a:srgbClr val="68868D"/>
                </a:solidFill>
                <a:latin typeface="Microsoft YaHei"/>
              </a:defRPr>
            </a:pPr>
            <a:r>
              <a:t>商城 / 工作台 / 数据库 / 消息 / 监控</a:t>
            </a:r>
          </a:p>
          <a:p>
            <a:pPr>
              <a:spcAft>
                <a:spcPts val="1200"/>
              </a:spcAft>
              <a:defRPr sz="1800" b="0">
                <a:solidFill>
                  <a:srgbClr val="68868D"/>
                </a:solidFill>
                <a:latin typeface="Microsoft YaHei"/>
              </a:defRPr>
            </a:pPr>
            <a:r>
              <a:t>姓名、学号、小组成员：________________</a:t>
            </a:r>
          </a:p>
        </p:txBody>
      </p:sp>
      <p:pic>
        <p:nvPicPr>
          <p:cNvPr id="10" name="Picture 9" descr="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842260"/>
            <a:ext cx="3749039" cy="24993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7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F83"/>
                </a:solidFill>
                <a:latin typeface="Microsoft YaHei"/>
              </a:defRPr>
            </a:pPr>
            <a:r>
              <a:t>FRESHMARKET  /  ENTERPRISE FRESH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4950"/>
                </a:solidFill>
                <a:latin typeface="Microsoft YaHei"/>
              </a:defRPr>
            </a:pPr>
            <a:r>
              <a:t>01 目标用户与角色职责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68868D"/>
                </a:solidFill>
                <a:latin typeface="Microsoft YaHei"/>
              </a:defRPr>
            </a:pPr>
            <a:r>
              <a:t>城市家庭、通勤鲜客与生鲜门店运营团队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8868D"/>
                </a:solidFill>
                <a:latin typeface="Microsoft YaHei"/>
              </a:defRPr>
            </a:pPr>
            <a:r>
              <a:t>鲜境 · 实验四 · 2026-10-06  |  实际系统与证据，支付/配送为实验沙箱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87F83"/>
                </a:solidFill>
                <a:latin typeface="Microsoft YaHei"/>
              </a:defRPr>
            </a:pPr>
            <a:r>
              <a:t>02</a:t>
            </a:r>
          </a:p>
        </p:txBody>
      </p:sp>
      <p:pic>
        <p:nvPicPr>
          <p:cNvPr id="8" name="Picture 7" descr="use-c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30" y="2011680"/>
            <a:ext cx="6471138" cy="4206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94192" y="2057400"/>
            <a:ext cx="3291840" cy="4096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233172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游客：发现好食材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会员：购物与售后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运营 / 仓库 / 客服 / 财务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管理员：授权与审计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7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F83"/>
                </a:solidFill>
                <a:latin typeface="Microsoft YaHei"/>
              </a:defRPr>
            </a:pPr>
            <a:r>
              <a:t>FRESHMARKET  /  ENTERPRISE FRESH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4950"/>
                </a:solidFill>
                <a:latin typeface="Microsoft YaHei"/>
              </a:defRPr>
            </a:pPr>
            <a:r>
              <a:t>02 顾客选购体验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68868D"/>
                </a:solidFill>
                <a:latin typeface="Microsoft YaHei"/>
              </a:defRPr>
            </a:pPr>
            <a:r>
              <a:t>分类、搜索、规格产地与冷链说明；桌面及手机可用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8868D"/>
                </a:solidFill>
                <a:latin typeface="Microsoft YaHei"/>
              </a:defRPr>
            </a:pPr>
            <a:r>
              <a:t>鲜境 · 实验四 · 2026-10-06  |  实际系统与证据，支付/配送为实验沙箱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87F83"/>
                </a:solidFill>
                <a:latin typeface="Microsoft YaHei"/>
              </a:defRPr>
            </a:pPr>
            <a:r>
              <a:t>03</a:t>
            </a:r>
          </a:p>
        </p:txBody>
      </p:sp>
      <p:pic>
        <p:nvPicPr>
          <p:cNvPr id="8" name="Picture 7" descr="01-home-desktop.png"/>
          <p:cNvPicPr>
            <a:picLocks noChangeAspect="1"/>
          </p:cNvPicPr>
          <p:nvPr/>
        </p:nvPicPr>
        <p:blipFill>
          <a:blip r:embed="rId3"/>
          <a:srcRect b="64302"/>
          <a:stretch>
            <a:fillRect/>
          </a:stretch>
        </p:blipFill>
        <p:spPr>
          <a:xfrm>
            <a:off x="502920" y="2011680"/>
            <a:ext cx="7680960" cy="4206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94192" y="2057400"/>
            <a:ext cx="3291840" cy="4096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233172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6类 / 24款食材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本地图片与来源记录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搜索 / 排序 / 分页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390px手机E2E通过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7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F83"/>
                </a:solidFill>
                <a:latin typeface="Microsoft YaHei"/>
              </a:defRPr>
            </a:pPr>
            <a:r>
              <a:t>FRESHMARKET  /  ENTERPRISE FRESH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4950"/>
                </a:solidFill>
                <a:latin typeface="Microsoft YaHei"/>
              </a:defRPr>
            </a:pPr>
            <a:r>
              <a:t>03 完整购物业务闭环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68868D"/>
                </a:solidFill>
                <a:latin typeface="Microsoft YaHei"/>
              </a:defRPr>
            </a:pPr>
            <a:r>
              <a:t>每一步均有数据状态、所有权与角色校验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8868D"/>
                </a:solidFill>
                <a:latin typeface="Microsoft YaHei"/>
              </a:defRPr>
            </a:pPr>
            <a:r>
              <a:t>鲜境 · 实验四 · 2026-10-06  |  实际系统与证据，支付/配送为实验沙箱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87F83"/>
                </a:solidFill>
                <a:latin typeface="Microsoft YaHei"/>
              </a:defRPr>
            </a:pPr>
            <a:r>
              <a:t>04</a:t>
            </a:r>
          </a:p>
        </p:txBody>
      </p:sp>
      <p:pic>
        <p:nvPicPr>
          <p:cNvPr id="8" name="Picture 7" descr="business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734" y="2011680"/>
            <a:ext cx="6867330" cy="4206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94192" y="2057400"/>
            <a:ext cx="3291840" cy="4096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233172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下单预扣库存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15分钟付款期限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拣货 / 配送 / 收货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评价 / 售后 / 财务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7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F83"/>
                </a:solidFill>
                <a:latin typeface="Microsoft YaHei"/>
              </a:defRPr>
            </a:pPr>
            <a:r>
              <a:t>FRESHMARKET  /  ENTERPRISE FRESH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4950"/>
                </a:solidFill>
                <a:latin typeface="Microsoft YaHei"/>
              </a:defRPr>
            </a:pPr>
            <a:r>
              <a:t>04 权限与审计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68868D"/>
                </a:solidFill>
                <a:latin typeface="Microsoft YaHei"/>
              </a:defRPr>
            </a:pPr>
            <a:r>
              <a:t>实际仓库账号调用用户管理接口，服务端返回403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8868D"/>
                </a:solidFill>
                <a:latin typeface="Microsoft YaHei"/>
              </a:defRPr>
            </a:pPr>
            <a:r>
              <a:t>鲜境 · 实验四 · 2026-10-06  |  实际系统与证据，支付/配送为实验沙箱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87F83"/>
                </a:solidFill>
                <a:latin typeface="Microsoft YaHei"/>
              </a:defRPr>
            </a:pPr>
            <a:r>
              <a:t>05</a:t>
            </a:r>
          </a:p>
        </p:txBody>
      </p:sp>
      <p:pic>
        <p:nvPicPr>
          <p:cNvPr id="8" name="Picture 7" descr="10-rbac-den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907" y="2011680"/>
            <a:ext cx="6056985" cy="4206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94192" y="2057400"/>
            <a:ext cx="3291840" cy="4096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233172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JWT主体 + DB角色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scrypt随机盐密码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本人订单 / 地址校验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traceId贯通审计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7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F83"/>
                </a:solidFill>
                <a:latin typeface="Microsoft YaHei"/>
              </a:defRPr>
            </a:pPr>
            <a:r>
              <a:t>FRESHMARKET  /  ENTERPRISE FRESH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4950"/>
                </a:solidFill>
                <a:latin typeface="Microsoft YaHei"/>
              </a:defRPr>
            </a:pPr>
            <a:r>
              <a:t>05 部署与模块分层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68868D"/>
                </a:solidFill>
                <a:latin typeface="Microsoft YaHei"/>
              </a:defRPr>
            </a:pPr>
            <a:r>
              <a:t>前端JSON交互；Controller → Service →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8868D"/>
                </a:solidFill>
                <a:latin typeface="Microsoft YaHei"/>
              </a:defRPr>
            </a:pPr>
            <a:r>
              <a:t>鲜境 · 实验四 · 2026-10-06  |  实际系统与证据，支付/配送为实验沙箱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87F83"/>
                </a:solidFill>
                <a:latin typeface="Microsoft YaHei"/>
              </a:defRPr>
            </a:pPr>
            <a:r>
              <a:t>06</a:t>
            </a:r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011680"/>
            <a:ext cx="6729983" cy="4206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94192" y="2057400"/>
            <a:ext cx="3291840" cy="4096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233172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React / Fastify / TS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PostgreSQL事务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Redis查询缓存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RabbitMQ可靠事件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7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F83"/>
                </a:solidFill>
                <a:latin typeface="Microsoft YaHei"/>
              </a:defRPr>
            </a:pPr>
            <a:r>
              <a:t>FRESHMARKET  /  ENTERPRISE FRESH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4950"/>
                </a:solidFill>
                <a:latin typeface="Microsoft YaHei"/>
              </a:defRPr>
            </a:pPr>
            <a:r>
              <a:t>06 数据模型与不变量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68868D"/>
                </a:solidFill>
                <a:latin typeface="Microsoft YaHei"/>
              </a:defRPr>
            </a:pPr>
            <a:r>
              <a:t>15张表；金额整数分；订单价格和地址快照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8868D"/>
                </a:solidFill>
                <a:latin typeface="Microsoft YaHei"/>
              </a:defRPr>
            </a:pPr>
            <a:r>
              <a:t>鲜境 · 实验四 · 2026-10-06  |  实际系统与证据，支付/配送为实验沙箱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87F83"/>
                </a:solidFill>
                <a:latin typeface="Microsoft YaHei"/>
              </a:defRPr>
            </a:pPr>
            <a:r>
              <a:t>07</a:t>
            </a:r>
          </a:p>
        </p:txBody>
      </p:sp>
      <p:pic>
        <p:nvPicPr>
          <p:cNvPr id="8" name="Picture 7" descr="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388" y="2011680"/>
            <a:ext cx="6598023" cy="4206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94192" y="2057400"/>
            <a:ext cx="3291840" cy="4096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233172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付款 / 退款 / 结算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订单id唯一约束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用户 + key唯一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索引与连接池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7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F83"/>
                </a:solidFill>
                <a:latin typeface="Microsoft YaHei"/>
              </a:defRPr>
            </a:pPr>
            <a:r>
              <a:t>FRESHMARKET  /  ENTERPRISE FRESH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4950"/>
                </a:solidFill>
                <a:latin typeface="Microsoft YaHei"/>
              </a:defRPr>
            </a:pPr>
            <a:r>
              <a:t>07 库存与状态竞争的处理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68868D"/>
                </a:solidFill>
                <a:latin typeface="Microsoft YaHei"/>
              </a:defRPr>
            </a:pPr>
            <a:r>
              <a:t>行锁 + 条件更新 + 唯一约束 + 同事务审计/事件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8868D"/>
                </a:solidFill>
                <a:latin typeface="Microsoft YaHei"/>
              </a:defRPr>
            </a:pPr>
            <a:r>
              <a:t>鲜境 · 实验四 · 2026-10-06  |  实际系统与证据，支付/配送为实验沙箱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87F83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7040880" cy="1965960"/>
          </a:xfrm>
          <a:prstGeom prst="roundRect">
            <a:avLst>
              <a:gd name="adj" fmla="val 7000"/>
            </a:avLst>
          </a:prstGeom>
          <a:solidFill>
            <a:srgbClr val="174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59152"/>
            <a:ext cx="6537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UPDATE products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SET stock = stock - quantity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WHERE stock &gt;= quantity AND active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53128"/>
            <a:ext cx="6858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74950"/>
                </a:solidFill>
                <a:latin typeface="Microsoft YaHei"/>
              </a:defRPr>
            </a:pPr>
            <a:r>
              <a:t>按商品id排序扣减，任何一项失败整单回滚。</a:t>
            </a:r>
          </a:p>
          <a:p>
            <a:pPr>
              <a:spcAft>
                <a:spcPts val="1200"/>
              </a:spcAft>
              <a:defRPr sz="1800" b="0">
                <a:solidFill>
                  <a:srgbClr val="174950"/>
                </a:solidFill>
                <a:latin typeface="Microsoft YaHei"/>
              </a:defRPr>
            </a:pPr>
            <a:r>
              <a:t>先锁用户串行购物车与下单；再检查幂等摘要。</a:t>
            </a:r>
          </a:p>
          <a:p>
            <a:pPr>
              <a:spcAft>
                <a:spcPts val="1200"/>
              </a:spcAft>
              <a:defRPr sz="1800" b="0">
                <a:solidFill>
                  <a:srgbClr val="174950"/>
                </a:solidFill>
                <a:latin typeface="Microsoft YaHei"/>
              </a:defRPr>
            </a:pPr>
            <a:r>
              <a:t>付款 / 取消锁定同一订单，只有一个有效转换。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19456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87F83"/>
                </a:solidFill>
                <a:latin typeface="Microsoft YaHei"/>
              </a:defRPr>
            </a:pPr>
            <a:r>
              <a:t>8次并发提交 → 1单</a:t>
            </a:r>
          </a:p>
          <a:p>
            <a:pPr>
              <a:spcAft>
                <a:spcPts val="1200"/>
              </a:spcAft>
              <a:defRPr sz="2000" b="1">
                <a:solidFill>
                  <a:srgbClr val="087F83"/>
                </a:solidFill>
                <a:latin typeface="Microsoft YaHei"/>
              </a:defRPr>
            </a:pPr>
            <a:r>
              <a:t>最后3件库存争抢 → 1单</a:t>
            </a:r>
          </a:p>
          <a:p>
            <a:pPr>
              <a:spcAft>
                <a:spcPts val="1200"/>
              </a:spcAft>
              <a:defRPr sz="2000" b="1">
                <a:solidFill>
                  <a:srgbClr val="087F83"/>
                </a:solidFill>
                <a:latin typeface="Microsoft YaHei"/>
              </a:defRPr>
            </a:pPr>
            <a:r>
              <a:t>6次重复支付 → 1笔</a:t>
            </a:r>
          </a:p>
          <a:p>
            <a:pPr>
              <a:spcAft>
                <a:spcPts val="1200"/>
              </a:spcAft>
              <a:defRPr sz="2000" b="1">
                <a:solidFill>
                  <a:srgbClr val="087F83"/>
                </a:solidFill>
                <a:latin typeface="Microsoft YaHei"/>
              </a:defRPr>
            </a:pPr>
            <a:r>
              <a:t>售后pending → 冻结履约/结算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7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F83"/>
                </a:solidFill>
                <a:latin typeface="Microsoft YaHei"/>
              </a:defRPr>
            </a:pPr>
            <a:r>
              <a:t>FRESHMARKET  /  ENTERPRISE FRESH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4950"/>
                </a:solidFill>
                <a:latin typeface="Microsoft YaHei"/>
              </a:defRPr>
            </a:pPr>
            <a:r>
              <a:t>08 Outbox与实际消息链路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68868D"/>
                </a:solidFill>
                <a:latin typeface="Microsoft YaHei"/>
              </a:defRPr>
            </a:pPr>
            <a:r>
              <a:t>处理业务数据库与RabbitMQ之间的可靠性缺口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8868D"/>
                </a:solidFill>
                <a:latin typeface="Microsoft YaHei"/>
              </a:defRPr>
            </a:pPr>
            <a:r>
              <a:t>鲜境 · 实验四 · 2026-10-06  |  实际系统与证据，支付/配送为实验沙箱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87F83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2286000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670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087F8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3558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74950"/>
                </a:solidFill>
                <a:latin typeface="Microsoft YaHei"/>
              </a:defRPr>
            </a:pPr>
            <a:r>
              <a:t>业务事务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02336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8868D"/>
                </a:solidFill>
                <a:latin typeface="Microsoft YaHei"/>
              </a:defRPr>
            </a:pPr>
            <a:r>
              <a:t>订单 / 审计 / Outbox</a:t>
            </a:r>
          </a:p>
          <a:p>
            <a:pPr>
              <a:spcAft>
                <a:spcPts val="1200"/>
              </a:spcAft>
              <a:defRPr sz="1600" b="0">
                <a:solidFill>
                  <a:srgbClr val="68868D"/>
                </a:solidFill>
                <a:latin typeface="Microsoft YaHei"/>
              </a:defRPr>
            </a:pPr>
            <a:r>
              <a:t>一次事务提交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423160"/>
            <a:ext cx="2286000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2670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087F8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33558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74950"/>
                </a:solidFill>
                <a:latin typeface="Microsoft YaHei"/>
              </a:defRPr>
            </a:pPr>
            <a:r>
              <a:t>确认发布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402336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8868D"/>
                </a:solidFill>
                <a:latin typeface="Microsoft YaHei"/>
              </a:defRPr>
            </a:pPr>
            <a:r>
              <a:t>processing租约</a:t>
            </a:r>
          </a:p>
          <a:p>
            <a:pPr>
              <a:spcAft>
                <a:spcPts val="1200"/>
              </a:spcAft>
              <a:defRPr sz="1600" b="0">
                <a:solidFill>
                  <a:srgbClr val="68868D"/>
                </a:solidFill>
                <a:latin typeface="Microsoft YaHei"/>
              </a:defRPr>
            </a:pPr>
            <a:r>
              <a:t>持久化 + Confirm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423160"/>
            <a:ext cx="2286000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7" y="2670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087F8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7" y="33558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74950"/>
                </a:solidFill>
                <a:latin typeface="Microsoft YaHei"/>
              </a:defRPr>
            </a:pPr>
            <a:r>
              <a:t>去重消费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7" y="402336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8868D"/>
                </a:solidFill>
                <a:latin typeface="Microsoft YaHei"/>
              </a:defRPr>
            </a:pPr>
            <a:r>
              <a:t>processed_events唯一</a:t>
            </a:r>
          </a:p>
          <a:p>
            <a:pPr>
              <a:spcAft>
                <a:spcPts val="1200"/>
              </a:spcAft>
              <a:defRPr sz="1600" b="0">
                <a:solidFill>
                  <a:srgbClr val="68868D"/>
                </a:solidFill>
                <a:latin typeface="Microsoft YaHei"/>
              </a:defRPr>
            </a:pPr>
            <a:r>
              <a:t>通知提交后Ack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2423160"/>
            <a:ext cx="2286000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9488" y="2670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087F83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33558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74950"/>
                </a:solidFill>
                <a:latin typeface="Microsoft YaHei"/>
              </a:defRPr>
            </a:pPr>
            <a:r>
              <a:t>失败恢复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402336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68868D"/>
                </a:solidFill>
                <a:latin typeface="Microsoft YaHei"/>
              </a:defRPr>
            </a:pPr>
            <a:r>
              <a:t>重试 / 重连</a:t>
            </a:r>
          </a:p>
          <a:p>
            <a:pPr>
              <a:spcAft>
                <a:spcPts val="1200"/>
              </a:spcAft>
              <a:defRPr sz="1600" b="0">
                <a:solidFill>
                  <a:srgbClr val="68868D"/>
                </a:solidFill>
                <a:latin typeface="Microsoft YaHei"/>
              </a:defRPr>
            </a:pPr>
            <a:r>
              <a:t>死信队列检查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74950"/>
                </a:solidFill>
                <a:latin typeface="Microsoft YaHei"/>
              </a:defRPr>
            </a:pPr>
            <a:r>
              <a:t>实际检查：缓存TTL / 共享失效 / PG下单 / 发布确认 / 消费落库 / 重复去重 / 取消回库 / 消息投递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7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F83"/>
                </a:solidFill>
                <a:latin typeface="Microsoft YaHei"/>
              </a:defRPr>
            </a:pPr>
            <a:r>
              <a:t>FRESHMARKET  /  ENTERPRISE FRESH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4950"/>
                </a:solidFill>
                <a:latin typeface="Microsoft YaHei"/>
              </a:defRPr>
            </a:pPr>
            <a:r>
              <a:t>09 测试与实际验证结果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68868D"/>
                </a:solidFill>
                <a:latin typeface="Microsoft YaHei"/>
              </a:defRPr>
            </a:pPr>
            <a:r>
              <a:t>保留双数据库日志、E2E报告、依赖审计及测量原始数据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8868D"/>
                </a:solidFill>
                <a:latin typeface="Microsoft YaHei"/>
              </a:defRPr>
            </a:pPr>
            <a:r>
              <a:t>鲜境 · 实验四 · 2026-10-06  |  实际系统与证据，支付/配送为实验沙箱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87F83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333756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4086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868D"/>
                </a:solidFill>
                <a:latin typeface="Microsoft YaHei"/>
              </a:defRPr>
            </a:pPr>
            <a:r>
              <a:t>SQLite /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52344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87F83"/>
                </a:solidFill>
                <a:latin typeface="Microsoft YaHei"/>
              </a:defRPr>
            </a:pPr>
            <a:r>
              <a:t>28 / 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38144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8868D"/>
                </a:solidFill>
                <a:latin typeface="Microsoft YaHei"/>
              </a:defRPr>
            </a:pPr>
            <a:r>
              <a:t>两个环境各28项通过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194560"/>
            <a:ext cx="333756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34086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868D"/>
                </a:solidFill>
                <a:latin typeface="Microsoft YaHei"/>
              </a:defRPr>
            </a:pPr>
            <a:r>
              <a:t>浏览器 E2E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52344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87F83"/>
                </a:solidFill>
                <a:latin typeface="Microsoft YaHei"/>
              </a:defRPr>
            </a:pPr>
            <a:r>
              <a:t>5 /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438144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8868D"/>
                </a:solidFill>
                <a:latin typeface="Microsoft YaHei"/>
              </a:defRPr>
            </a:pPr>
            <a:r>
              <a:t>本地、Docker分别通过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194560"/>
            <a:ext cx="333756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34086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868D"/>
                </a:solidFill>
                <a:latin typeface="Microsoft YaHei"/>
              </a:defRPr>
            </a:pPr>
            <a:r>
              <a:t>实物组件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752344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87F83"/>
                </a:solidFill>
                <a:latin typeface="Microsoft YaHei"/>
              </a:defRPr>
            </a:pPr>
            <a:r>
              <a:t>8 /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438144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8868D"/>
                </a:solidFill>
                <a:latin typeface="Microsoft YaHei"/>
              </a:defRPr>
            </a:pPr>
            <a:r>
              <a:t>真实Redis / RabbitMQ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60520"/>
            <a:ext cx="333756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30682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868D"/>
                </a:solidFill>
                <a:latin typeface="Microsoft YaHei"/>
              </a:defRPr>
            </a:pPr>
            <a:r>
              <a:t>行覆盖率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718304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87F83"/>
                </a:solidFill>
                <a:latin typeface="Microsoft YaHei"/>
              </a:defRPr>
            </a:pPr>
            <a:r>
              <a:t>87.02%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04104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8868D"/>
                </a:solidFill>
                <a:latin typeface="Microsoft YaHei"/>
              </a:defRPr>
            </a:pPr>
            <a:r>
              <a:t>SQLite；PG 88.20%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4160520"/>
            <a:ext cx="333756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430682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868D"/>
                </a:solidFill>
                <a:latin typeface="Microsoft YaHei"/>
              </a:defRPr>
            </a:pPr>
            <a:r>
              <a:t>依赖审计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718304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87F83"/>
                </a:solidFill>
                <a:latin typeface="Microsoft YaHei"/>
              </a:defRPr>
            </a:pPr>
            <a:r>
              <a:t>0 告警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404104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8868D"/>
                </a:solidFill>
                <a:latin typeface="Microsoft YaHei"/>
              </a:defRPr>
            </a:pPr>
            <a:r>
              <a:t>修复Swagger关联依赖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4160520"/>
            <a:ext cx="333756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430682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8868D"/>
                </a:solidFill>
                <a:latin typeface="Microsoft YaHei"/>
              </a:defRPr>
            </a:pPr>
            <a:r>
              <a:t>本机短测 p95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718304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87F83"/>
                </a:solidFill>
                <a:latin typeface="Microsoft YaHei"/>
              </a:defRPr>
            </a:pPr>
            <a:r>
              <a:t>17.34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404104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8868D"/>
                </a:solidFill>
                <a:latin typeface="Microsoft YaHei"/>
              </a:defRPr>
            </a:pPr>
            <a:r>
              <a:t>200请求 / 并发10 / 0错误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7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F83"/>
                </a:solidFill>
                <a:latin typeface="Microsoft YaHei"/>
              </a:defRPr>
            </a:pPr>
            <a:r>
              <a:t>FRESHMARKET  /  ENTERPRISE FRESH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4950"/>
                </a:solidFill>
                <a:latin typeface="Microsoft YaHei"/>
              </a:defRPr>
            </a:pPr>
            <a:r>
              <a:t>10 部署、可观测性与运维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68868D"/>
                </a:solidFill>
                <a:latin typeface="Microsoft YaHei"/>
              </a:defRPr>
            </a:pPr>
            <a:r>
              <a:t>七个容器实际运行；Prometheus target UP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8868D"/>
                </a:solidFill>
                <a:latin typeface="Microsoft YaHei"/>
              </a:defRPr>
            </a:pPr>
            <a:r>
              <a:t>鲜境 · 实验四 · 2026-10-06  |  实际系统与证据，支付/配送为实验沙箱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87F83"/>
                </a:solidFill>
                <a:latin typeface="Microsoft YaHei"/>
              </a:defRPr>
            </a:pPr>
            <a:r>
              <a:t>11</a:t>
            </a:r>
          </a:p>
        </p:txBody>
      </p:sp>
      <p:pic>
        <p:nvPicPr>
          <p:cNvPr id="8" name="Picture 7" descr="08-grafana-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907" y="2011680"/>
            <a:ext cx="6056985" cy="4206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94192" y="2057400"/>
            <a:ext cx="3291840" cy="4096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233172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实际QPS / p95 / 内存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健康、日志与告警规则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配置分离 / 镜像回滚</a:t>
            </a:r>
          </a:p>
          <a:p>
            <a:pPr>
              <a:spcAft>
                <a:spcPts val="1200"/>
              </a:spcAft>
              <a:defRPr sz="1700" b="0">
                <a:solidFill>
                  <a:srgbClr val="174950"/>
                </a:solidFill>
                <a:latin typeface="Microsoft YaHei"/>
              </a:defRPr>
            </a:pPr>
            <a:r>
              <a:t>备份与恢复脚本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7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F83"/>
                </a:solidFill>
                <a:latin typeface="Microsoft YaHei"/>
              </a:defRPr>
            </a:pPr>
            <a:r>
              <a:t>FRESHMARKET  /  ENTERPRISE FRESH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4950"/>
                </a:solidFill>
                <a:latin typeface="Microsoft YaHei"/>
              </a:defRPr>
            </a:pPr>
            <a:r>
              <a:t>11 AI辅助开发与修正记录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68868D"/>
                </a:solidFill>
                <a:latin typeface="Microsoft YaHei"/>
              </a:defRPr>
            </a:pPr>
            <a:r>
              <a:t>记录原始Prompt、工具/模型、生成内容、采纳理由和实际验证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8868D"/>
                </a:solidFill>
                <a:latin typeface="Microsoft YaHei"/>
              </a:defRPr>
            </a:pPr>
            <a:r>
              <a:t>鲜境 · 实验四 · 2026-10-06  |  实际系统与证据，支付/配送为实验沙箱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87F83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10972800" cy="914400"/>
          </a:xfrm>
          <a:prstGeom prst="roundRect">
            <a:avLst>
              <a:gd name="adj" fmla="val 7000"/>
            </a:avLst>
          </a:prstGeom>
          <a:solidFill>
            <a:srgbClr val="E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10469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87F83"/>
                </a:solidFill>
                <a:latin typeface="Microsoft YaHei"/>
              </a:defRPr>
            </a:pPr>
            <a:r>
              <a:t>“按照所给文档的要求完成系统搭建，目标是仿盒马搭建企业级生鲜购物平台”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74950"/>
                </a:solidFill>
                <a:latin typeface="Microsoft YaHei"/>
              </a:defRPr>
            </a:pPr>
            <a:r>
              <a:t>采纳：TS模块化单体、整数分金额</a:t>
            </a:r>
          </a:p>
          <a:p>
            <a:pPr>
              <a:spcAft>
                <a:spcPts val="1200"/>
              </a:spcAft>
              <a:defRPr sz="1900" b="0">
                <a:solidFill>
                  <a:srgbClr val="174950"/>
                </a:solidFill>
                <a:latin typeface="Microsoft YaHei"/>
              </a:defRPr>
            </a:pPr>
            <a:r>
              <a:t>采纳：快照 / 行锁 / Outbox去重</a:t>
            </a:r>
          </a:p>
          <a:p>
            <a:pPr>
              <a:spcAft>
                <a:spcPts val="1200"/>
              </a:spcAft>
              <a:defRPr sz="1900" b="0">
                <a:solidFill>
                  <a:srgbClr val="174950"/>
                </a:solidFill>
                <a:latin typeface="Microsoft YaHei"/>
              </a:defRPr>
            </a:pPr>
            <a:r>
              <a:t>证据：AI过程表与ADR</a:t>
            </a:r>
          </a:p>
          <a:p>
            <a:pPr>
              <a:spcAft>
                <a:spcPts val="1200"/>
              </a:spcAft>
              <a:defRPr sz="1900" b="0">
                <a:solidFill>
                  <a:srgbClr val="174950"/>
                </a:solidFill>
                <a:latin typeface="Microsoft YaHei"/>
              </a:defRPr>
            </a:pPr>
            <a:r>
              <a:t>源码：锁文件 + SQL + Compose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29000"/>
            <a:ext cx="4892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74950"/>
                </a:solidFill>
                <a:latin typeface="Microsoft YaHei"/>
              </a:defRPr>
            </a:pPr>
            <a:r>
              <a:t>扫描PDF → 渲染章节视觉读取</a:t>
            </a:r>
          </a:p>
          <a:p>
            <a:pPr>
              <a:spcAft>
                <a:spcPts val="1200"/>
              </a:spcAft>
              <a:defRPr sz="1900" b="0">
                <a:solidFill>
                  <a:srgbClr val="174950"/>
                </a:solidFill>
                <a:latin typeface="Microsoft YaHei"/>
              </a:defRPr>
            </a:pPr>
            <a:r>
              <a:t>Windows权限 → 执行工具审批</a:t>
            </a:r>
          </a:p>
          <a:p>
            <a:pPr>
              <a:spcAft>
                <a:spcPts val="1200"/>
              </a:spcAft>
              <a:defRPr sz="1900" b="0">
                <a:solidFill>
                  <a:srgbClr val="174950"/>
                </a:solidFill>
                <a:latin typeface="Microsoft YaHei"/>
              </a:defRPr>
            </a:pPr>
            <a:r>
              <a:t>E2E定位歧义 → 精确限定header</a:t>
            </a:r>
          </a:p>
          <a:p>
            <a:pPr>
              <a:spcAft>
                <a:spcPts val="1200"/>
              </a:spcAft>
              <a:defRPr sz="1900" b="0">
                <a:solidFill>
                  <a:srgbClr val="174950"/>
                </a:solidFill>
                <a:latin typeface="Microsoft YaHei"/>
              </a:defRPr>
            </a:pPr>
            <a:r>
              <a:t>Swagger告警 → 升级并重新回归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7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017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F83"/>
                </a:solidFill>
                <a:latin typeface="Microsoft YaHei"/>
              </a:defRPr>
            </a:pPr>
            <a:r>
              <a:t>FRESHMARKET  /  ENTERPRISE FRESH GROCERY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74950"/>
                </a:solidFill>
                <a:latin typeface="Microsoft YaHei"/>
              </a:defRPr>
            </a:pPr>
            <a:r>
              <a:t>12 交付、复现与后续方向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68868D"/>
                </a:solidFill>
                <a:latin typeface="Microsoft YaHei"/>
              </a:defRPr>
            </a:pPr>
            <a:r>
              <a:t>可运行源码 + 三类Word文档 + 实验报告 + PPT + 实际系统录屏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8868D"/>
                </a:solidFill>
                <a:latin typeface="Microsoft YaHei"/>
              </a:defRPr>
            </a:pPr>
            <a:r>
              <a:t>鲜境 · 实验四 · 2026-10-06  |  实际系统与证据，支付/配送为实验沙箱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87F83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5760720" cy="3291840"/>
          </a:xfrm>
          <a:prstGeom prst="roundRect">
            <a:avLst>
              <a:gd name="adj" fmla="val 7000"/>
            </a:avLst>
          </a:prstGeom>
          <a:solidFill>
            <a:srgbClr val="174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386584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本地：Node.js 24+</a:t>
            </a:r>
          </a:p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npm ci → npm run dev</a:t>
            </a:r>
          </a:p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Docker：生成 .env.docker</a:t>
            </a:r>
          </a:p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docker compose --env-file .env.docker</a:t>
            </a:r>
          </a:p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up -d --build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402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74950"/>
                </a:solidFill>
                <a:latin typeface="Microsoft YaHei"/>
              </a:defRPr>
            </a:pPr>
            <a:r>
              <a:t>已交付：Word / PPT / WebM / 源码ZIP</a:t>
            </a:r>
          </a:p>
          <a:p>
            <a:pPr>
              <a:spcAft>
                <a:spcPts val="1200"/>
              </a:spcAft>
              <a:defRPr sz="1900" b="0">
                <a:solidFill>
                  <a:srgbClr val="174950"/>
                </a:solidFill>
                <a:latin typeface="Microsoft YaHei"/>
              </a:defRPr>
            </a:pPr>
            <a:r>
              <a:t>完整Docker商城：localhost:8080</a:t>
            </a:r>
          </a:p>
          <a:p>
            <a:pPr>
              <a:spcAft>
                <a:spcPts val="1200"/>
              </a:spcAft>
              <a:defRPr sz="1900" b="0">
                <a:solidFill>
                  <a:srgbClr val="174950"/>
                </a:solidFill>
                <a:latin typeface="Microsoft YaHei"/>
              </a:defRPr>
            </a:pPr>
            <a:r>
              <a:t>后续：真实渠道、部分退款、批次溯源</a:t>
            </a:r>
          </a:p>
          <a:p>
            <a:pPr>
              <a:spcAft>
                <a:spcPts val="1200"/>
              </a:spcAft>
              <a:defRPr sz="1900" b="0">
                <a:solidFill>
                  <a:srgbClr val="174950"/>
                </a:solidFill>
                <a:latin typeface="Microsoft YaHei"/>
              </a:defRPr>
            </a:pPr>
            <a:r>
              <a:t>验收：集群限流、HA、恢复与长时压测</a:t>
            </a:r>
          </a:p>
          <a:p>
            <a:pPr>
              <a:spcAft>
                <a:spcPts val="1200"/>
              </a:spcAft>
              <a:defRPr sz="1900" b="0">
                <a:solidFill>
                  <a:srgbClr val="174950"/>
                </a:solidFill>
                <a:latin typeface="Microsoft YaHei"/>
              </a:defRPr>
            </a:pPr>
            <a:r>
              <a:t>提交人：补姓名、学号、分工及签名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鲜境 FreshMarket 企业级生鲜商城答辩</dc:title>
  <dc:subject/>
  <dc:creator>FreshMarket 项目交付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